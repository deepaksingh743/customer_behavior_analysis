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embeddedFontLst>
    <p:embeddedFont>
      <p:font typeface="Arial Rounded MT Bold" panose="020F0704030504030204" pitchFamily="34" charset="0"/>
      <p:regular r:id="rId14"/>
    </p:embeddedFont>
    <p:embeddedFont>
      <p:font typeface="Epilogue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Epilogue Bold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Fraunces Medium" panose="020B0604020202020204" charset="0"/>
      <p:regular r:id="rId25"/>
    </p:embeddedFont>
    <p:embeddedFont>
      <p:font typeface="Fraunces Light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1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3.svg"/><Relationship Id="rId3" Type="http://schemas.openxmlformats.org/officeDocument/2006/relationships/image" Target="../media/image6.png"/><Relationship Id="rId7" Type="http://schemas.openxmlformats.org/officeDocument/2006/relationships/image" Target="../media/image-5-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-5-3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2.svg"/><Relationship Id="rId3" Type="http://schemas.openxmlformats.org/officeDocument/2006/relationships/image" Target="../media/image13.png"/><Relationship Id="rId12" Type="http://schemas.openxmlformats.org/officeDocument/2006/relationships/image" Target="../media/image-9-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2.svg"/><Relationship Id="rId5" Type="http://schemas.openxmlformats.org/officeDocument/2006/relationships/image" Target="../media/image-9-2.svg"/><Relationship Id="rId10" Type="http://schemas.openxmlformats.org/officeDocument/2006/relationships/image" Target="../media/image-9-2.svg"/><Relationship Id="rId4" Type="http://schemas.openxmlformats.org/officeDocument/2006/relationships/image" Target="../media/image-9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1-6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1-4.sv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image" Target="../media/image-11-8.svg"/><Relationship Id="rId4" Type="http://schemas.openxmlformats.org/officeDocument/2006/relationships/image" Target="../media/image-11-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4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2053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By Deepak Singh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60042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full-stack data analytics project showcasing the journey from raw data to executive dashboard.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38412"/>
            <a:ext cx="4075881" cy="4961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2" y="2558504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2826767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Cleaning &amp; EDA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38412"/>
            <a:ext cx="4075881" cy="4961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5974" y="2558504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95974" y="2826767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SQL analysis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149203"/>
            <a:ext cx="4075881" cy="496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092" y="3769296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0092" y="4037558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Interactive dashboard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149203"/>
            <a:ext cx="4075881" cy="4961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95974" y="3769296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95974" y="4037558"/>
            <a:ext cx="382793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Actionable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0954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04503"/>
            <a:ext cx="462275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 &amp;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150069"/>
            <a:ext cx="4622750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Uncover actionable insights into customer spending, product preferences, and subscription behavior to support strategic decisions. The dataset includes </a:t>
            </a:r>
            <a:r>
              <a:rPr lang="en-US" sz="8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3,900 transactional records</a:t>
            </a: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across 18 features covering demographics, purchases, and shopping behavior.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835795"/>
            <a:ext cx="4622750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 Analyzed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2092003"/>
            <a:ext cx="2268810" cy="384125"/>
          </a:xfrm>
          <a:prstGeom prst="roundRect">
            <a:avLst>
              <a:gd name="adj" fmla="val 11232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3097" y="2208981"/>
            <a:ext cx="203485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Age · Gender · Location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984" y="2092003"/>
            <a:ext cx="2268885" cy="384125"/>
          </a:xfrm>
          <a:prstGeom prst="roundRect">
            <a:avLst>
              <a:gd name="adj" fmla="val 11232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6963" y="2208981"/>
            <a:ext cx="2034927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Subscription Status · Purchase Amount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6119" y="2561183"/>
            <a:ext cx="2268810" cy="534293"/>
          </a:xfrm>
          <a:prstGeom prst="roundRect">
            <a:avLst>
              <a:gd name="adj" fmla="val 8075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097" y="2678162"/>
            <a:ext cx="203485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Season · Discount Applied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49984" y="2561183"/>
            <a:ext cx="2268885" cy="534293"/>
          </a:xfrm>
          <a:prstGeom prst="roundRect">
            <a:avLst>
              <a:gd name="adj" fmla="val 8075"/>
            </a:avLst>
          </a:prstGeom>
          <a:solidFill>
            <a:srgbClr val="080E26"/>
          </a:solidFill>
          <a:ln w="14288">
            <a:solidFill>
              <a:srgbClr val="41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6963" y="2678162"/>
            <a:ext cx="2034927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Review Rating · Shipping Type · Frequency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0290" y="819448"/>
            <a:ext cx="3426247" cy="3953098"/>
          </a:xfrm>
          <a:prstGeom prst="roundRect">
            <a:avLst>
              <a:gd name="adj" fmla="val 2159"/>
            </a:avLst>
          </a:prstGeom>
          <a:solidFill>
            <a:srgbClr val="8C98CA"/>
          </a:solidFill>
          <a:ln/>
        </p:spPr>
      </p:sp>
      <p:sp>
        <p:nvSpPr>
          <p:cNvPr id="15" name="Text 13"/>
          <p:cNvSpPr/>
          <p:nvPr/>
        </p:nvSpPr>
        <p:spPr>
          <a:xfrm>
            <a:off x="5402982" y="904503"/>
            <a:ext cx="3220864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Vitals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02982" y="1212056"/>
            <a:ext cx="3220864" cy="339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3.9K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5402982" y="1666205"/>
            <a:ext cx="3220864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02982" y="1911772"/>
            <a:ext cx="322086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Transactional rows analyzed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02982" y="2283396"/>
            <a:ext cx="3220864" cy="339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18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5402982" y="2737545"/>
            <a:ext cx="3220864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02982" y="2983111"/>
            <a:ext cx="322086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Variables per record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02982" y="3354735"/>
            <a:ext cx="3220864" cy="339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37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5402982" y="3808884"/>
            <a:ext cx="3220864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Nulls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02982" y="4054450"/>
            <a:ext cx="322086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Review Rating imputed with category median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02982" y="4300314"/>
            <a:ext cx="3220864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Toolchain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02982" y="4545881"/>
            <a:ext cx="367806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Python</a:t>
            </a:r>
            <a:r>
              <a:rPr lang="en-US" sz="8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</a:t>
            </a:r>
            <a:r>
              <a:rPr lang="en-US" sz="8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PostgreSQL</a:t>
            </a:r>
            <a:r>
              <a:rPr lang="en-US" sz="8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</a:t>
            </a:r>
            <a:r>
              <a:rPr lang="en-US" sz="800" b="1" dirty="0">
                <a:solidFill>
                  <a:srgbClr val="000000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Power BI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931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Cleaning &amp; Preparation </a:t>
            </a:r>
            <a:r>
              <a:rPr lang="en-US" sz="24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(Python)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488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six-step preparation pipeline ensured clean, analysis-ready data before SQL and visualization work began.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34287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539329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629891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Loading &amp; Exploration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1898154"/>
            <a:ext cx="4013895" cy="41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Imported the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3,900-row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dataset with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reviewed structure with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34287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1539329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1629891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Missing Value Imputation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1898154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Found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37 nulls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 Review Rating and filled them using the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median rating by product category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253112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727573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818135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Column Standardization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086398"/>
            <a:ext cx="4013895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Renamed columns to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consistency across the workflow.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253112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2727573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2818135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086398"/>
            <a:ext cx="4013895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segmentation analysis.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119" y="370983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6119" y="3906292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2" name="Text 20"/>
          <p:cNvSpPr/>
          <p:nvPr/>
        </p:nvSpPr>
        <p:spPr>
          <a:xfrm>
            <a:off x="496119" y="399685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Redundancy Check &amp; Column Removal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119" y="4265116"/>
            <a:ext cx="4013895" cy="41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Confirmed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were redundant, then dropped </a:t>
            </a:r>
            <a:r>
              <a:rPr lang="en-US" sz="9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33987" y="370983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3987" y="3906292"/>
            <a:ext cx="4013895" cy="14288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6" name="Text 24"/>
          <p:cNvSpPr/>
          <p:nvPr/>
        </p:nvSpPr>
        <p:spPr>
          <a:xfrm>
            <a:off x="4633987" y="399685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3987" y="4265116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Loaded the cleaned DataFrame into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PostgreSQL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downstream SQL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949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&amp; Spending Insights </a:t>
            </a:r>
            <a:r>
              <a:rPr lang="en-US" sz="2400" dirty="0">
                <a:solidFill>
                  <a:srgbClr val="8C98CA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(SQL)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7052"/>
            <a:ext cx="43472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by Age Group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0427"/>
            <a:ext cx="4347270" cy="29835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513511"/>
            <a:ext cx="480447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Older segments drive most revenue. </a:t>
            </a: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Old Age + Senior = $152,340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or over </a:t>
            </a: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65%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of total.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50718" y="1057052"/>
            <a:ext cx="35018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SQL Findings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150718" y="1390427"/>
            <a:ext cx="3501851" cy="991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6129" y="1528688"/>
            <a:ext cx="3168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46129" y="1846511"/>
            <a:ext cx="31681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Male: $155,438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vs.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Female: $75,191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about a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2× gap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150718" y="2505670"/>
            <a:ext cx="3501851" cy="792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46129" y="2643932"/>
            <a:ext cx="3168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Shipping Type Impact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46129" y="2961754"/>
            <a:ext cx="316817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Express avg: $60.34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vs.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Standard: $58.41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150718" y="3422452"/>
            <a:ext cx="3501851" cy="9912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6129" y="3560713"/>
            <a:ext cx="31681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High-Spend Discount Users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346129" y="3878535"/>
            <a:ext cx="316817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Discount users who still spend </a:t>
            </a: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above average</a:t>
            </a: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are strong upsell candidates.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2871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Segmentation &amp; Subscription Analysis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19324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Customer Segment Distribution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37965"/>
            <a:ext cx="3929286" cy="2828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4297114"/>
            <a:ext cx="3929286" cy="30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79% Loyal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customers show strong retention, while just </a:t>
            </a: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83 New customers (2%)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points to a weak acquisition funnel.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723358" y="1019324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Subscription Analysis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23358" y="1337965"/>
            <a:ext cx="3929286" cy="1377255"/>
          </a:xfrm>
          <a:prstGeom prst="roundRect">
            <a:avLst>
              <a:gd name="adj" fmla="val 366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23358" y="1683469"/>
            <a:ext cx="3929286" cy="751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23358" y="2026593"/>
            <a:ext cx="3929286" cy="751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23358" y="2369716"/>
            <a:ext cx="3929286" cy="751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48746" y="141729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Metric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55010" y="141729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61275" y="141729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Non-Subscribers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8746" y="1760413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Count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55010" y="1760413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1,033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61275" y="1760413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2,830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8746" y="2103537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Spend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5010" y="2103537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$59.42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61275" y="2103537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$59.81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48746" y="244666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55010" y="244666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$61,377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61275" y="2446660"/>
            <a:ext cx="1523256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$169,252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23358" y="2846115"/>
            <a:ext cx="3929286" cy="837084"/>
          </a:xfrm>
          <a:prstGeom prst="roundRect">
            <a:avLst>
              <a:gd name="adj" fmla="val 6029"/>
            </a:avLst>
          </a:prstGeom>
          <a:solidFill>
            <a:srgbClr val="4B3F02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014886"/>
            <a:ext cx="150168" cy="1201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13734" y="2980804"/>
            <a:ext cx="3418805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Average spend is nearly identical ($59.42 vs. $59.81), suggesting the subscription program adds </a:t>
            </a:r>
            <a:r>
              <a:rPr lang="en-US" sz="9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little basket-size lift</a:t>
            </a:r>
            <a:r>
              <a:rPr lang="en-US" sz="9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23358" y="3814093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Repeat Buyers &amp; Subscriptions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723358" y="4118223"/>
            <a:ext cx="3929286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Among customers with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&gt;5 purchases</a:t>
            </a: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939 subscribed and 2,503 did not — repeat buying does not strongly predict subscription uptake.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768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Product Performance &amp; Discount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791691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5 Products by Avg Review Rating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90898"/>
            <a:ext cx="3971851" cy="2858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915742"/>
            <a:ext cx="4429051" cy="9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Footwear and accessories lead satisfaction. Gloves rank first at </a:t>
            </a:r>
            <a:r>
              <a:rPr lang="en-US" sz="5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3.86</a:t>
            </a: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4680793" y="791691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Products by Category (Order Volume)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80793" y="990898"/>
            <a:ext cx="3971851" cy="983977"/>
          </a:xfrm>
          <a:prstGeom prst="roundRect">
            <a:avLst>
              <a:gd name="adj" fmla="val 364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85556" y="995660"/>
            <a:ext cx="3961879" cy="1948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71281" y="1035546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Category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094140" y="1035546"/>
            <a:ext cx="1602358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Top Product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7414617" y="1035546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Orders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4685556" y="1190551"/>
            <a:ext cx="3961879" cy="1948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771281" y="123043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Accessories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094140" y="1230437"/>
            <a:ext cx="1602358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Jewelry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7414617" y="123043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170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685556" y="1385441"/>
            <a:ext cx="3961879" cy="1948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771281" y="142532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Clothing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094140" y="1425327"/>
            <a:ext cx="1602358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Blouse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7414617" y="142532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169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4685556" y="1580331"/>
            <a:ext cx="3961879" cy="1948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771281" y="162021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Outerwear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094140" y="1620217"/>
            <a:ext cx="1602358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Jacket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7414617" y="1620217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163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685556" y="1775222"/>
            <a:ext cx="3961879" cy="1948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771281" y="1815108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Footwear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6094140" y="1815108"/>
            <a:ext cx="1602358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Sandals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7414617" y="1815108"/>
            <a:ext cx="1604739" cy="11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159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680793" y="2040806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Discount Dependency Risk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680793" y="2282651"/>
            <a:ext cx="3549997" cy="106561"/>
          </a:xfrm>
          <a:prstGeom prst="roundRect">
            <a:avLst>
              <a:gd name="adj" fmla="val 3361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80793" y="2282651"/>
            <a:ext cx="1763241" cy="106561"/>
          </a:xfrm>
          <a:prstGeom prst="roundRect">
            <a:avLst>
              <a:gd name="adj" fmla="val 33613"/>
            </a:avLst>
          </a:prstGeom>
          <a:solidFill>
            <a:srgbClr val="8C98CA"/>
          </a:solidFill>
          <a:ln/>
        </p:spPr>
      </p:sp>
      <p:sp>
        <p:nvSpPr>
          <p:cNvPr id="31" name="Text 28"/>
          <p:cNvSpPr/>
          <p:nvPr/>
        </p:nvSpPr>
        <p:spPr>
          <a:xfrm>
            <a:off x="8294712" y="2282577"/>
            <a:ext cx="357932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49.67%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80793" y="2475756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80793" y="2768873"/>
            <a:ext cx="3540547" cy="106561"/>
          </a:xfrm>
          <a:prstGeom prst="roundRect">
            <a:avLst>
              <a:gd name="adj" fmla="val 3361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80793" y="2768873"/>
            <a:ext cx="1758181" cy="106561"/>
          </a:xfrm>
          <a:prstGeom prst="roundRect">
            <a:avLst>
              <a:gd name="adj" fmla="val 33613"/>
            </a:avLst>
          </a:prstGeom>
          <a:solidFill>
            <a:srgbClr val="8C98CA"/>
          </a:solidFill>
          <a:ln/>
        </p:spPr>
      </p:sp>
      <p:sp>
        <p:nvSpPr>
          <p:cNvPr id="35" name="Text 32"/>
          <p:cNvSpPr/>
          <p:nvPr/>
        </p:nvSpPr>
        <p:spPr>
          <a:xfrm>
            <a:off x="8285262" y="2768798"/>
            <a:ext cx="367382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49.66%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680793" y="2961977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Sneakers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680793" y="3255094"/>
            <a:ext cx="3546574" cy="106561"/>
          </a:xfrm>
          <a:prstGeom prst="roundRect">
            <a:avLst>
              <a:gd name="adj" fmla="val 3361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80793" y="3255094"/>
            <a:ext cx="1717551" cy="106561"/>
          </a:xfrm>
          <a:prstGeom prst="roundRect">
            <a:avLst>
              <a:gd name="adj" fmla="val 33613"/>
            </a:avLst>
          </a:prstGeom>
          <a:solidFill>
            <a:srgbClr val="8C98CA"/>
          </a:solidFill>
          <a:ln/>
        </p:spPr>
      </p:sp>
      <p:sp>
        <p:nvSpPr>
          <p:cNvPr id="39" name="Text 36"/>
          <p:cNvSpPr/>
          <p:nvPr/>
        </p:nvSpPr>
        <p:spPr>
          <a:xfrm>
            <a:off x="8291289" y="3255020"/>
            <a:ext cx="361355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48.43%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680793" y="3448199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Coat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680793" y="3741316"/>
            <a:ext cx="3546277" cy="106561"/>
          </a:xfrm>
          <a:prstGeom prst="roundRect">
            <a:avLst>
              <a:gd name="adj" fmla="val 3361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80793" y="3741316"/>
            <a:ext cx="1673796" cy="106561"/>
          </a:xfrm>
          <a:prstGeom prst="roundRect">
            <a:avLst>
              <a:gd name="adj" fmla="val 33613"/>
            </a:avLst>
          </a:prstGeom>
          <a:solidFill>
            <a:srgbClr val="8C98CA"/>
          </a:solidFill>
          <a:ln/>
        </p:spPr>
      </p:sp>
      <p:sp>
        <p:nvSpPr>
          <p:cNvPr id="43" name="Text 40"/>
          <p:cNvSpPr/>
          <p:nvPr/>
        </p:nvSpPr>
        <p:spPr>
          <a:xfrm>
            <a:off x="8290992" y="3741241"/>
            <a:ext cx="361652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47.20%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680793" y="3934420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Sweater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680793" y="4227537"/>
            <a:ext cx="3545979" cy="106561"/>
          </a:xfrm>
          <a:prstGeom prst="roundRect">
            <a:avLst>
              <a:gd name="adj" fmla="val 33613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680793" y="4227537"/>
            <a:ext cx="1646337" cy="106561"/>
          </a:xfrm>
          <a:prstGeom prst="roundRect">
            <a:avLst>
              <a:gd name="adj" fmla="val 33613"/>
            </a:avLst>
          </a:prstGeom>
          <a:solidFill>
            <a:srgbClr val="8C98CA"/>
          </a:solidFill>
          <a:ln/>
        </p:spPr>
      </p:sp>
      <p:sp>
        <p:nvSpPr>
          <p:cNvPr id="47" name="Text 44"/>
          <p:cNvSpPr/>
          <p:nvPr/>
        </p:nvSpPr>
        <p:spPr>
          <a:xfrm>
            <a:off x="8290694" y="4227463"/>
            <a:ext cx="361950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46.43%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680793" y="4420642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Pants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680793" y="4619848"/>
            <a:ext cx="4429051" cy="9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Nearly half of purchases for these products are discount-driven, creating a </a:t>
            </a:r>
            <a:r>
              <a:rPr lang="en-US" sz="5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margin risk</a:t>
            </a:r>
            <a:r>
              <a:rPr lang="en-US" sz="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309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 Dashboard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29940"/>
            <a:ext cx="860896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 interactive Power BI dashboard surfaces key insights for non-technical stakeholders with filters for Age Group, Subscription Status, Shipping Type, and Gender.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68139"/>
            <a:ext cx="4328740" cy="2422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3582888"/>
            <a:ext cx="4034954" cy="563687"/>
          </a:xfrm>
          <a:prstGeom prst="roundRect">
            <a:avLst>
              <a:gd name="adj" fmla="val 751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1638" y="3688407"/>
            <a:ext cx="38239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$59.76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1638" y="3894981"/>
            <a:ext cx="382391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Revenue / Transaction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12928" y="3582888"/>
            <a:ext cx="4034954" cy="563687"/>
          </a:xfrm>
          <a:prstGeom prst="roundRect">
            <a:avLst>
              <a:gd name="adj" fmla="val 751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8447" y="3688407"/>
            <a:ext cx="38239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4.0 ★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8447" y="3894981"/>
            <a:ext cx="382391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Avg Review Rating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96119" y="4228430"/>
            <a:ext cx="4034954" cy="563687"/>
          </a:xfrm>
          <a:prstGeom prst="roundRect">
            <a:avLst>
              <a:gd name="adj" fmla="val 751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638" y="4333949"/>
            <a:ext cx="38239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3.9K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1638" y="4540523"/>
            <a:ext cx="382391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Customers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612928" y="4228430"/>
            <a:ext cx="4034954" cy="563687"/>
          </a:xfrm>
          <a:prstGeom prst="roundRect">
            <a:avLst>
              <a:gd name="adj" fmla="val 751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447" y="4333949"/>
            <a:ext cx="38239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73% / 27%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18447" y="4540523"/>
            <a:ext cx="382391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Subscribed vs. Non-Subscribed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606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Findings Summary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793775"/>
            <a:ext cx="86089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Six critical findings emerged from the combined Python EDA and SQL analysis, with direct strategic implications.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009650"/>
            <a:ext cx="8151763" cy="5697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953" y="1205508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58230" y="1114127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Revenue Skew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58230" y="1306041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Male customers and the Old Age group drive the most revenue, making them the highest-priority segments for marketing.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652141"/>
            <a:ext cx="8151763" cy="569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953" y="1847999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58230" y="1756618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Loyalty Strength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58230" y="1948532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79% loyal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customers shows strong retention. New customer acquisition remains a bottleneck at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2%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(83 customers).</a:t>
            </a:r>
            <a:endParaRPr lang="en-US" sz="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294632"/>
            <a:ext cx="8151763" cy="5697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953" y="2490490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58230" y="2399109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Subscription Gap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958230" y="2591023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Subscribers and non-subscribers spend nearly the same amount: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$59.42 vs. $59.81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2937123"/>
            <a:ext cx="8151763" cy="5697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953" y="3132981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958230" y="3041600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Discount Risk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958230" y="3233514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Five products carry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47–50% discounts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creating margin pressure without a more targeted promo strategy.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96119" y="3579614"/>
            <a:ext cx="8151763" cy="5697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953" y="3775472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58230" y="3684091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Performers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58230" y="3876005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Gloves, Sandals, Boots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lead in ratings;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Jewelry, Blouse, Jacket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lead in order volume.</a:t>
            </a:r>
            <a:endParaRPr lang="en-US" sz="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96119" y="4222105"/>
            <a:ext cx="8151763" cy="5697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953" y="4417963"/>
            <a:ext cx="142429" cy="1780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958230" y="4326582"/>
            <a:ext cx="7585174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Express Shipping Signal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958230" y="4518496"/>
            <a:ext cx="7585174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Express shipping users average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$60.34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vs.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$58.41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Standard, suggesting a useful upsell lever.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145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Recommendations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0405"/>
            <a:ext cx="848618" cy="5244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50355"/>
            <a:ext cx="192881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907902"/>
            <a:ext cx="1928813" cy="94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 subscriber-only discounts, early access, and loyalty points. Focus on the 2,503 repeat buyers who haven’t subscribed yet.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411" y="980405"/>
            <a:ext cx="848618" cy="5244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0411" y="1650355"/>
            <a:ext cx="192881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Revise Discount Policy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2570411" y="1907902"/>
            <a:ext cx="1928813" cy="94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Review Hat, Sneakers, Coat, Sweater, and Pants. Replace blanket discounting with targeted, time-limited promotions to protect margins.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703" y="980405"/>
            <a:ext cx="848618" cy="5244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4703" y="1650355"/>
            <a:ext cx="192881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Targeted Marketing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644703" y="1907902"/>
            <a:ext cx="1928813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Prioritize Old Age and Senior segments, plus Express shipping users. Tailor campaigns to higher-spending customers.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995" y="980405"/>
            <a:ext cx="848692" cy="5244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18995" y="1650355"/>
            <a:ext cx="1928887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Product Positioning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718995" y="1907902"/>
            <a:ext cx="192888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Feature Gloves, Sandals, and Boots prominently. Use Jewelry, Blouse, and Jacket for cross-sell and bundle campaigns.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086844"/>
            <a:ext cx="848618" cy="5244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756794"/>
            <a:ext cx="192881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New Customer Acquisition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4014341"/>
            <a:ext cx="1928813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With only 83 new customers, invest in referrals, social ads, and onboarding incentives to rebuild the funnel.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4331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Stack &amp; Skills Demonstrated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67966"/>
            <a:ext cx="8608963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project shows an end-to-end analytical workflow — from raw data to business-ready insights — using industry-standard tools.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121718"/>
            <a:ext cx="4031754" cy="1547738"/>
          </a:xfrm>
          <a:prstGeom prst="roundRect">
            <a:avLst>
              <a:gd name="adj" fmla="val 284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507" y="1231106"/>
            <a:ext cx="313953" cy="313953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1828" y="1317427"/>
            <a:ext cx="141238" cy="141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507" y="1633314"/>
            <a:ext cx="3812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5507" y="1849785"/>
            <a:ext cx="3812977" cy="71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cleaning and prep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Feature engineering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Missing value imputation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pandas and database connectivity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16128" y="1121718"/>
            <a:ext cx="4031754" cy="1547738"/>
          </a:xfrm>
          <a:prstGeom prst="roundRect">
            <a:avLst>
              <a:gd name="adj" fmla="val 284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5516" y="1231106"/>
            <a:ext cx="313953" cy="313953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811837" y="1317427"/>
            <a:ext cx="141238" cy="141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5516" y="1633314"/>
            <a:ext cx="3812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SQL (PostgreSQL)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25516" y="1849785"/>
            <a:ext cx="3812977" cy="71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Revenue and spend analysis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Customer segmentation queries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CTEs, subqueries, window functions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Aggregations and conditional logic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96119" y="2757711"/>
            <a:ext cx="4031754" cy="1547738"/>
          </a:xfrm>
          <a:prstGeom prst="roundRect">
            <a:avLst>
              <a:gd name="adj" fmla="val 284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5507" y="2867099"/>
            <a:ext cx="313953" cy="313953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1828" y="2953420"/>
            <a:ext cx="141238" cy="141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507" y="3269307"/>
            <a:ext cx="3812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05507" y="3485778"/>
            <a:ext cx="3812977" cy="71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Interactive dashboard design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KPI, donut, and bar charts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Dynamic slicers and filters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storytelling for stakeholders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16128" y="2757711"/>
            <a:ext cx="4031754" cy="1547738"/>
          </a:xfrm>
          <a:prstGeom prst="roundRect">
            <a:avLst>
              <a:gd name="adj" fmla="val 2840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25516" y="2867099"/>
            <a:ext cx="313953" cy="313953"/>
          </a:xfrm>
          <a:prstGeom prst="ellipse">
            <a:avLst/>
          </a:prstGeom>
          <a:solidFill>
            <a:srgbClr val="8C98C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811837" y="2953420"/>
            <a:ext cx="141238" cy="141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25516" y="3269307"/>
            <a:ext cx="3812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Analytical Skills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25516" y="3485778"/>
            <a:ext cx="3812977" cy="710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EDA and statistical reasoning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Segmentation and cohort thinking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Discount and margin analysis</a:t>
            </a:r>
            <a:endParaRPr lang="en-US" sz="800" dirty="0"/>
          </a:p>
          <a:p>
            <a:pPr marL="162560" indent="-162560" algn="l">
              <a:lnSpc>
                <a:spcPct val="123000"/>
              </a:lnSpc>
              <a:buSzPct val="100000"/>
              <a:buChar char="•"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Actionable recommendation framing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96119" y="4404792"/>
            <a:ext cx="8151763" cy="374377"/>
          </a:xfrm>
          <a:prstGeom prst="roundRect">
            <a:avLst>
              <a:gd name="adj" fmla="val 11742"/>
            </a:avLst>
          </a:prstGeom>
          <a:solidFill>
            <a:srgbClr val="28315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745" y="4548708"/>
            <a:ext cx="130820" cy="10462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6191" y="4519166"/>
            <a:ext cx="816426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Core competency: turning transactional data into clear, actionable business insights.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9742" y="1740309"/>
            <a:ext cx="7590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US" sz="5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36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959</Words>
  <Application>Microsoft Office PowerPoint</Application>
  <PresentationFormat>On-screen Show (16:9)</PresentationFormat>
  <Paragraphs>186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 Rounded MT Bold</vt:lpstr>
      <vt:lpstr>Epilogue</vt:lpstr>
      <vt:lpstr>Consolas</vt:lpstr>
      <vt:lpstr>Epilogue Bold</vt:lpstr>
      <vt:lpstr>Calibri</vt:lpstr>
      <vt:lpstr>Fraunces Medium</vt:lpstr>
      <vt:lpstr>Fraunces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JOE</cp:lastModifiedBy>
  <cp:revision>2</cp:revision>
  <dcterms:created xsi:type="dcterms:W3CDTF">2026-07-25T10:02:45Z</dcterms:created>
  <dcterms:modified xsi:type="dcterms:W3CDTF">2026-07-25T10:12:23Z</dcterms:modified>
</cp:coreProperties>
</file>